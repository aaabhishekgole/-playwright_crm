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130" autoAdjust="0"/>
    <p:restoredTop sz="87621" autoAdjust="0"/>
  </p:normalViewPr>
  <p:slideViewPr>
    <p:cSldViewPr>
      <p:cViewPr varScale="1">
        <p:scale>
          <a:sx n="72" d="100"/>
          <a:sy n="72" d="100"/>
        </p:scale>
        <p:origin x="-102" y="-22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dLbls>
            <c:numFmt formatCode="General" sourceLinked="0"/>
            <c:showVal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</c:v>
                </c:pt>
                <c:pt idx="1">
                  <c:v>27.4</c:v>
                </c:pt>
                <c:pt idx="2">
                  <c:v>90</c:v>
                </c:pt>
                <c:pt idx="3">
                  <c:v>20.4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dLbls>
            <c:numFmt formatCode="General" sourceLinked="0"/>
            <c:showVal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30.6</c:v>
                </c:pt>
                <c:pt idx="1">
                  <c:v>38.6</c:v>
                </c:pt>
                <c:pt idx="2">
                  <c:v>34.6</c:v>
                </c:pt>
                <c:pt idx="3">
                  <c:v>31.6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</c:v>
                </c:pt>
              </c:strCache>
            </c:strRef>
          </c:tx>
          <c:dLbls>
            <c:numFmt formatCode="General" sourceLinked="0"/>
            <c:showVal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45.9</c:v>
                </c:pt>
                <c:pt idx="1">
                  <c:v>46.9</c:v>
                </c:pt>
                <c:pt idx="2">
                  <c:v>45</c:v>
                </c:pt>
                <c:pt idx="3">
                  <c:v>43.9</c:v>
                </c:pt>
              </c:numCache>
            </c:numRef>
          </c:val>
        </c:ser>
        <c:overlap val="-25"/>
        <c:axId val="44205952"/>
        <c:axId val="34219136"/>
      </c:barChart>
      <c:catAx>
        <c:axId val="44205952"/>
        <c:scaling>
          <c:orientation val="minMax"/>
        </c:scaling>
        <c:axPos val="b"/>
        <c:majorTickMark val="none"/>
        <c:tickLblPos val="nextTo"/>
        <c:crossAx val="34219136"/>
        <c:crosses val="autoZero"/>
        <c:auto val="1"/>
        <c:lblAlgn val="ctr"/>
        <c:lblOffset val="100"/>
      </c:catAx>
      <c:valAx>
        <c:axId val="34219136"/>
        <c:scaling>
          <c:orientation val="minMax"/>
        </c:scaling>
        <c:delete val="1"/>
        <c:axPos val="l"/>
        <c:numFmt formatCode="General" sourceLinked="1"/>
        <c:tickLblPos val="nextTo"/>
        <c:crossAx val="44205952"/>
        <c:crosses val="autoZero"/>
        <c:crossBetween val="between"/>
      </c:valAx>
    </c:plotArea>
    <c:legend>
      <c:legendPos val="t"/>
      <c:layout/>
    </c:legend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6/30/2006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6/30/2006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606EA6-EFEA-4C30-9264-4F9291A5780D}" type="datetime1">
              <a:rPr lang="en-US" smtClean="0"/>
              <a:pPr/>
              <a:t>6/30/2006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CF9F07-3BC7-4570-B054-79111B0A380C}" type="datetime1">
              <a:rPr lang="en-US" smtClean="0"/>
              <a:pPr/>
              <a:t>6/30/2006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rPr lang="en-US" smtClean="0"/>
              <a:pPr/>
              <a:t>6/30/2006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rPr lang="en-US" smtClean="0"/>
              <a:pPr/>
              <a:t>6/30/2006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FADB5D-B7A0-47E3-AD2D-B1A6F8614213}" type="datetime1">
              <a:rPr lang="en-US" smtClean="0"/>
              <a:pPr/>
              <a:t>6/30/2006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968126-03FC-49C0-B9B8-2B561CCC3D90}" type="datetime1">
              <a:rPr lang="en-US" smtClean="0"/>
              <a:pPr/>
              <a:t>6/30/2006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9A8198-4617-485E-9585-4840B69DBBA6}" type="datetime1">
              <a:rPr lang="en-US" smtClean="0"/>
              <a:pPr/>
              <a:t>6/30/2006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>
            <a:extLst/>
          </a:lstStyle>
          <a:p>
            <a:fld id="{E4606EA6-EFEA-4C30-9264-4F9291A5780D}" type="datetime1">
              <a:rPr lang="en-US" smtClean="0"/>
              <a:pPr/>
              <a:t>6/30/2006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>
            <a:extLst/>
          </a:lstStyle>
          <a:p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rPr lang="en-US" smtClean="0"/>
              <a:pPr/>
              <a:t>6/30/2006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latinLnBrk="0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latinLnBrk="0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latinLnBrk="0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latinLnBrk="0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latinLnBrk="0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latinLnBrk="0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latinLnBrk="0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latinLnBrk="0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latinLnBrk="0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latinLnBrk="0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Gadget Seva Hub</a:t>
            </a:r>
            <a:endParaRPr lang="en-US" sz="2800" dirty="0"/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600" dirty="0" smtClean="0"/>
              <a:t>Operations portal, runner workflow, hybrid mobile app, billing, notifications, and audit</a:t>
            </a:r>
            <a:endParaRPr lang="en-US" sz="1600" dirty="0"/>
          </a:p>
        </p:txBody>
      </p:sp>
      <p:sp>
        <p:nvSpPr>
          <p:cNvPr id="4" name="TextBox 4"/>
          <p:cNvSpPr txBox="1"/>
          <p:nvPr/>
        </p:nvSpPr>
        <p:spPr>
          <a:xfrm>
            <a:off x="731520" y="4572000"/>
            <a:ext cx="54864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100" dirty="0" smtClean="0"/>
              <a:t>Generated from the updated Docs folder on 28 Mar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Platform At A Glance</a:t>
            </a:r>
            <a:endParaRPr 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731520" y="1463040"/>
            <a:ext cx="10149888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 smtClean="0"/>
              <a:t>- Role-based admin portal for service request intake and lifecycle management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Indian device workflows covering mobile, TV, laptop, AC, and camera repair cases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Modules include Pickup, Hub, Service Center, Estimates, Cashless, QC, Delivery, Billing, Reports, and Audit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INR and rupee formatting are aligned across operational and finance screens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Live Architecture</a:t>
            </a:r>
            <a:endParaRPr 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731520" y="1463040"/>
            <a:ext cx="10149888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 smtClean="0"/>
              <a:t>- Frontend: Vite + React portal with protected routes, menu hierarchy, and shared toasts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Backend: Spring Boot API for auth, workflow transitions, attachments, notifications, billing, and audit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Storage: file-backed H2 locally and PostgreSQL-style integrated mode with the same domain model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Files and notifications support signed access, LOG mode, and HTTP gateway delivery for SMS / WhatsApp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API Surface</a:t>
            </a:r>
            <a:endParaRPr 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731520" y="1463040"/>
            <a:ext cx="10149888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 smtClean="0"/>
              <a:t>- /api/auth/login for portal and runner authentication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/api/service-requests for create, list, detail, pickup, estimate, status, delivery, attachments, invoice, payment, reconcile, and refund actions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/api/public/pickups/{token} for runner accept, evidence upload, delete, and pickup completion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/api/mobile/runner/notifications, /api/users, /api/users/pickup-runners, /api/devices/scan-qr, and /api/files/access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End-To-End Workflow</a:t>
            </a:r>
            <a:endParaRPr 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731520" y="1463040"/>
            <a:ext cx="10149888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 smtClean="0"/>
              <a:t>- REQUEST_CREATED -&gt; PICKUP_ASSIGNED -&gt; PICKUP_IN_PROGRESS -&gt; PICKUP_COMPLETED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RECEIVED_AT_HUB -&gt; DIAGNOSIS_IN_PROGRESS -&gt; ESTIMATE_PREPARED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CASHLESS_PENDING_APPROVAL, ESTIMATE_APPROVED, and TOTAL_LOSS branches are supported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REPAIR_IN_PROGRESS -&gt; REPAIR_COMPLETED -&gt; READY_FOR_DISPATCH -&gt; DELIVERY_ASSIGNED -&gt; OUT_FOR_DELIVERY -&gt; DELIVERED -&gt; INVOICED -&gt; CLOSED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status_history records each major transition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Pickup Runner Flow</a:t>
            </a:r>
            <a:endParaRPr 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731520" y="1463040"/>
            <a:ext cx="10149888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 smtClean="0"/>
              <a:t>- Admin onboards runner with mandatory mobile number and optional WhatsApp number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Assign Pickup sends a smart link by SMS, WhatsApp, and rider APP only to the scheduled runner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Runner opens the link in browser or hybrid mobile app and accepts the pickup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Runner uploads 10 mandatory device photos plus optional extra photos before pickup completion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Pickup done updates DB and API state and stores customer and admin notification records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Menu, Data, And Mobile Parity</a:t>
            </a:r>
            <a:endParaRPr 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731520" y="1680000"/>
            <a:ext cx="4620000" cy="34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700" dirty="0" smtClean="0"/>
              <a:t>- Menu source of truth: frontend/src/utils/menuHierarchy.ts and frontend/src/main.tsx</a:t>
            </a:r>
            <a:endParaRPr lang="en-US" sz="1700" dirty="0"/>
          </a:p>
          <a:p>
            <a:pPr marL="0" indent="0">
              <a:buNone/>
            </a:pPr>
            <a:r>
              <a:rPr lang="en-US" sz="1700" dirty="0" smtClean="0"/>
              <a:t>- Specialized pages already exist for pickup dashboard, runner onboarding, assign pickup, delivery tracking, billing, and timeline</a:t>
            </a:r>
            <a:endParaRPr lang="en-US" sz="1700" dirty="0"/>
          </a:p>
          <a:p>
            <a:pPr marL="0" indent="0">
              <a:buNone/>
            </a:pPr>
            <a:r>
              <a:rPr lang="en-US" sz="1700" dirty="0" smtClean="0"/>
              <a:t>- Core tables include service_requests, pickups, attachments, notifications, invoices, payments, status_history, users, and roles</a:t>
            </a:r>
            <a:endParaRPr lang="en-US" sz="1700" dirty="0"/>
          </a:p>
        </p:txBody>
      </p:sp>
      <p:sp>
        <p:nvSpPr>
          <p:cNvPr id="4" name="TextBox 4"/>
          <p:cNvSpPr txBox="1"/>
          <p:nvPr/>
        </p:nvSpPr>
        <p:spPr>
          <a:xfrm>
            <a:off x="5670000" y="1680000"/>
            <a:ext cx="4620000" cy="34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700" dirty="0" smtClean="0"/>
              <a:t>- Runner-specific fields include runner_portal_token, accepted_at, runner_link_sent_at, and whatsapp_number</a:t>
            </a:r>
            <a:endParaRPr lang="en-US" sz="1700" dirty="0"/>
          </a:p>
          <a:p>
            <a:pPr marL="0" indent="0">
              <a:buNone/>
            </a:pPr>
            <a:r>
              <a:rPr lang="en-US" sz="1700" dirty="0" smtClean="0"/>
              <a:t>- Public rider routes: /runner-access/:token, /runner-portal/:token, and /runner-app</a:t>
            </a:r>
            <a:endParaRPr lang="en-US" sz="1700" dirty="0"/>
          </a:p>
          <a:p>
            <a:pPr marL="0" indent="0">
              <a:buNone/>
            </a:pPr>
            <a:r>
              <a:rPr lang="en-US" sz="1700" dirty="0" smtClean="0"/>
              <a:t>- The Expo hybrid app uses the same live web pickup flow inside WebView for UI and behavior parity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QA And Handoff</a:t>
            </a:r>
            <a:endParaRPr 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731520" y="1463040"/>
            <a:ext cx="10149888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 smtClean="0"/>
              <a:t>- Updated Docs folder now includes API, architecture, DB schema, menu mapping, and test scenarios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Test scenarios cover auth, claim registration, runner onboarding, pickup, hub, estimates, cashless, repair, delivery, billing, notifications, and data checks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Web toasts and mobile alerts now provide submit feedback across major modules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- This deck is saved in Docs for demo walkthroughs, stakeholder review, and handoff</a:t>
            </a:r>
            <a:endParaRPr lang="en-US" sz="1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 xfr1="moreMidClr" xfr2="invMoreMidClr"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356</Words>
  <Application>Microsoft Office PowerPoint</Application>
  <PresentationFormat>On-screen Show (16:9)</PresentationFormat>
  <Paragraphs>36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WidescreenPresentation16x9</vt:lpstr>
      <vt:lpstr>Widescreen Presentation</vt:lpstr>
      <vt:lpstr>Widescreen Presentation</vt:lpstr>
      <vt:lpstr>Widescreen Advantages</vt:lpstr>
      <vt:lpstr>Widescreen Graphics</vt:lpstr>
      <vt:lpstr>Widescreen Pictures</vt:lpstr>
      <vt:lpstr>Creating 16:9 Presentations</vt:lpstr>
      <vt:lpstr>Slide Show Tips</vt:lpstr>
      <vt:lpstr>Slide 8</vt:lpstr>
    </vt:vector>
  </TitlesOfParts>
  <Manager/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2006-07-12T22:21:48Z</dcterms:created>
  <dcterms:modified xsi:type="dcterms:W3CDTF">2006-07-01T00:30:39Z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